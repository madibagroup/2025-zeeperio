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AEFF"/>
    <a:srgbClr val="FFCF63"/>
    <a:srgbClr val="FB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3"/>
    <p:restoredTop sz="94680"/>
  </p:normalViewPr>
  <p:slideViewPr>
    <p:cSldViewPr snapToGrid="0">
      <p:cViewPr>
        <p:scale>
          <a:sx n="174" d="100"/>
          <a:sy n="174" d="100"/>
        </p:scale>
        <p:origin x="8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67DD-F413-BFF9-D126-FF8C4D436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28C39-8C29-96FF-BB65-D72D68B38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FD7C4-5311-3214-BB6A-DCB09309D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2F01A-AC21-4C11-FB14-0E89BAC6F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134CA-65C6-ACDE-719C-691ADA64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87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80B8-42D9-F109-FF05-8624DBBC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A75C0-CEF3-6ECE-C521-282E1F29B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5DDFF-5786-CE4C-5667-D1D7CDD91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9696C-7549-7C49-D686-1C7308F64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9D192-C1B8-E094-7764-8F40FCF49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7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9EC75-36E7-6DC1-62D6-8D03D1B4D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1A811-BC5A-D1B0-2A00-D05B5E15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8FC2D-C43B-BF3F-43B7-D821E9A2D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036B5-87EB-DE6E-BAC1-0FFCA8DC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FC625-2C80-4D5A-D259-9F8553F0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2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4C6C-24B4-F177-F054-A7F9D14B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6A560-D4FD-CF3A-B101-5097F5035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ECFFD-0600-A923-A77E-F080EAF02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7149B-5580-04E2-66CA-6B13642C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98151-97AE-8A5F-60F2-901722D9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AF796-6E8F-47C9-3E82-F8CA78AE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1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89919-0729-11EF-13EC-5B104F6C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367CE-67C3-4E5E-AB44-C0FC62E52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602C6-2E97-D60F-5FEB-FB5880560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5FC4A-4157-B1EB-4A0A-121F6FD2B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672CE-563A-23A6-F4A2-F6293763A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64360-50DE-EC66-13A5-4D48D8C83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C2B2C-522C-3B57-93F5-1542B5C0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CF3EE2-8E07-E834-7B84-3185D590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20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1DE51-4AD9-FCB2-CFD3-0B882435A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F2F82D-2FE3-5E3B-4D28-D481B27B6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2F3BA-9109-1AEC-E632-EC31F4EA5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DD5C7-29F9-6FBB-859E-566E37C8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6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17846-EDB3-9D21-CBA4-817FD1EBD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7C4777-6E97-2898-F942-BB399CBC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B517A-AA3E-7248-C975-5A44D659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1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C292-32F7-3AEC-A79E-A11FC2AB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9AA5B-05A5-2415-7E94-CB65542B8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D5766-F84C-7015-BBD3-D343137C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BEC11-FBCB-22DA-1425-04C2070C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4BAB9-071B-01F3-8CF4-D9D7C205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27607-5F29-4538-4B91-25FB6931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41AD1-5760-B59F-A7D2-32A3DCEBC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81065-3C3E-32EA-C834-CE82A5FF33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B9A40-EE28-85B2-7324-B46FCF1A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A8593-A9FC-D1A1-4CF2-569EF3D4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0B6A8-BF9A-9A9E-B113-E11BF640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EF78D-702C-527C-2A6F-AD5B69E60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1D8A-8E9C-3175-9F8E-98C80A233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FBC5B-A3E0-9F37-83A1-B5631EA64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86F98-9784-E9AC-3408-D19992C9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DE8CF-3986-FFFE-5A1C-7D636C39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CC5B4-AB3E-EE59-23BB-69930C4C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4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260BB-F6D9-48E6-2457-D62AAC010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A8FEB-1784-1ADC-3F83-386F1E2B8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87AC6-F4D0-242B-4607-69C3FF93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9158A-3743-D9E8-88BD-4F95B4CF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0A5EA-58C9-7185-C5E3-E7A45EF3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1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2DE39-BA0C-E5DD-AB7A-12CEA4F0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E7BD7-F477-21B9-C5F6-95B480EAC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11FB-24E0-1595-EF2A-336363508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81E37-94EE-7241-9339-AD18A17806B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A727D-432E-344B-19B0-D59F02D6D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9836D-9C08-C43C-7213-435BC2043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2061C-8AAF-C042-87DD-C055ACB27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98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EC55A67-7495-60BD-6B65-1395A0C05399}"/>
              </a:ext>
            </a:extLst>
          </p:cNvPr>
          <p:cNvSpPr/>
          <p:nvPr/>
        </p:nvSpPr>
        <p:spPr>
          <a:xfrm>
            <a:off x="30536" y="208142"/>
            <a:ext cx="2355946" cy="1243846"/>
          </a:xfrm>
          <a:prstGeom prst="roundRect">
            <a:avLst>
              <a:gd name="adj" fmla="val 3202"/>
            </a:avLst>
          </a:prstGeom>
          <a:solidFill>
            <a:srgbClr val="FBFF00">
              <a:alpha val="12157"/>
            </a:srgb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4728C-6288-31A7-D63A-0444C44DF6B3}"/>
              </a:ext>
            </a:extLst>
          </p:cNvPr>
          <p:cNvSpPr txBox="1"/>
          <p:nvPr/>
        </p:nvSpPr>
        <p:spPr>
          <a:xfrm>
            <a:off x="555481" y="115808"/>
            <a:ext cx="1306054" cy="18466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>
                <a:latin typeface="NewComputerModern08" pitchFamily="2" charset="77"/>
                <a:cs typeface="Times New Roman" panose="02020603050405020304" pitchFamily="18" charset="0"/>
              </a:rPr>
              <a:t>Election Setup</a:t>
            </a:r>
            <a:endParaRPr lang="en-US" sz="1050" b="1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FBD6E-1174-EE3E-CD25-C36AD851B410}"/>
              </a:ext>
            </a:extLst>
          </p:cNvPr>
          <p:cNvSpPr txBox="1"/>
          <p:nvPr/>
        </p:nvSpPr>
        <p:spPr>
          <a:xfrm>
            <a:off x="171210" y="384261"/>
            <a:ext cx="2074596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Generate ballot IDs and confirmation codes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Initialize table layout (grouped by ballot ID)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Initialize mark status, audit status to False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F1EF41-EA21-B2C1-957F-8D71009527DF}"/>
              </a:ext>
            </a:extLst>
          </p:cNvPr>
          <p:cNvSpPr/>
          <p:nvPr/>
        </p:nvSpPr>
        <p:spPr>
          <a:xfrm>
            <a:off x="2" y="0"/>
            <a:ext cx="4746169" cy="685800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9D0F1A-921D-036B-1093-2C112C4D30EB}"/>
              </a:ext>
            </a:extLst>
          </p:cNvPr>
          <p:cNvSpPr/>
          <p:nvPr/>
        </p:nvSpPr>
        <p:spPr>
          <a:xfrm>
            <a:off x="2520339" y="320107"/>
            <a:ext cx="2195192" cy="145267"/>
          </a:xfrm>
          <a:prstGeom prst="roundRect">
            <a:avLst>
              <a:gd name="adj" fmla="val 0"/>
            </a:avLst>
          </a:prstGeom>
          <a:solidFill>
            <a:srgbClr val="FFCF63">
              <a:alpha val="32941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Election Parameters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35FB280-A62E-7A57-2D03-8437AB8C72DA}"/>
              </a:ext>
            </a:extLst>
          </p:cNvPr>
          <p:cNvSpPr/>
          <p:nvPr/>
        </p:nvSpPr>
        <p:spPr>
          <a:xfrm>
            <a:off x="2520338" y="465374"/>
            <a:ext cx="2195192" cy="208141"/>
          </a:xfrm>
          <a:prstGeom prst="roundRect">
            <a:avLst>
              <a:gd name="adj" fmla="val 0"/>
            </a:avLst>
          </a:prstGeom>
          <a:solidFill>
            <a:srgbClr val="91AEFF">
              <a:alpha val="16078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B ballots, C candidates, P mark positions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54047CF-935F-8CDD-60F2-4EBECD0AA6CD}"/>
              </a:ext>
            </a:extLst>
          </p:cNvPr>
          <p:cNvSpPr/>
          <p:nvPr/>
        </p:nvSpPr>
        <p:spPr>
          <a:xfrm>
            <a:off x="2520338" y="878230"/>
            <a:ext cx="2195192" cy="145267"/>
          </a:xfrm>
          <a:prstGeom prst="roundRect">
            <a:avLst>
              <a:gd name="adj" fmla="val 0"/>
            </a:avLst>
          </a:prstGeom>
          <a:solidFill>
            <a:srgbClr val="FFCF63">
              <a:alpha val="32941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Cryptographic Parameters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5B1FB61-579F-B712-9255-807A40206779}"/>
              </a:ext>
            </a:extLst>
          </p:cNvPr>
          <p:cNvSpPr/>
          <p:nvPr/>
        </p:nvSpPr>
        <p:spPr>
          <a:xfrm>
            <a:off x="2520337" y="1023497"/>
            <a:ext cx="2195192" cy="230280"/>
          </a:xfrm>
          <a:prstGeom prst="roundRect">
            <a:avLst>
              <a:gd name="adj" fmla="val 0"/>
            </a:avLst>
          </a:prstGeom>
          <a:solidFill>
            <a:srgbClr val="91AEFF">
              <a:alpha val="12157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BN254 + KZG with domain size n (</a:t>
            </a:r>
            <a:r>
              <a:rPr lang="en-US" sz="600" dirty="0" err="1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s.t.</a:t>
            </a:r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, 2</a:t>
            </a:r>
            <a:r>
              <a:rPr lang="en-US" sz="600" baseline="300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n</a:t>
            </a:r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 = </a:t>
            </a:r>
            <a:r>
              <a:rPr lang="en-US" sz="600" dirty="0" err="1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P+x</a:t>
            </a:r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ETH powers of tau SRS (degree n)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1EB4534-D594-34A8-A1C1-A570312F4DA9}"/>
              </a:ext>
            </a:extLst>
          </p:cNvPr>
          <p:cNvCxnSpPr>
            <a:cxnSpLocks/>
            <a:stCxn id="15" idx="1"/>
            <a:endCxn id="3" idx="3"/>
          </p:cNvCxnSpPr>
          <p:nvPr/>
        </p:nvCxnSpPr>
        <p:spPr>
          <a:xfrm flipH="1" flipV="1">
            <a:off x="2245806" y="568927"/>
            <a:ext cx="274532" cy="518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3F945E-4F6C-3C4C-519A-9A9AE347AA3C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743580" y="756945"/>
            <a:ext cx="0" cy="196243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B37F4AF-72CD-A509-1EA2-C4F1B532433D}"/>
              </a:ext>
            </a:extLst>
          </p:cNvPr>
          <p:cNvCxnSpPr>
            <a:cxnSpLocks/>
            <a:stCxn id="17" idx="1"/>
            <a:endCxn id="42" idx="3"/>
          </p:cNvCxnSpPr>
          <p:nvPr/>
        </p:nvCxnSpPr>
        <p:spPr>
          <a:xfrm flipH="1" flipV="1">
            <a:off x="2245806" y="1137854"/>
            <a:ext cx="274531" cy="783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8F2F98E-FB1F-031F-CA96-DA49C3D3B805}"/>
              </a:ext>
            </a:extLst>
          </p:cNvPr>
          <p:cNvSpPr txBox="1"/>
          <p:nvPr/>
        </p:nvSpPr>
        <p:spPr>
          <a:xfrm>
            <a:off x="169974" y="953971"/>
            <a:ext cx="1004452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Print paper ballots with IDs and confirmation codes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66038F-38A8-1342-C9B3-EC65AA75502D}"/>
              </a:ext>
            </a:extLst>
          </p:cNvPr>
          <p:cNvSpPr txBox="1"/>
          <p:nvPr/>
        </p:nvSpPr>
        <p:spPr>
          <a:xfrm>
            <a:off x="1241354" y="953188"/>
            <a:ext cx="1004452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Compile and deploy verifier smart contract in Solidity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2E8BA0F-054D-CA34-6727-43019EDFCFFE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672200" y="754376"/>
            <a:ext cx="0" cy="199595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9B05B60-68E7-1632-68BA-97AFBBBD3F25}"/>
              </a:ext>
            </a:extLst>
          </p:cNvPr>
          <p:cNvSpPr/>
          <p:nvPr/>
        </p:nvSpPr>
        <p:spPr>
          <a:xfrm>
            <a:off x="36646" y="1756252"/>
            <a:ext cx="2355946" cy="1137970"/>
          </a:xfrm>
          <a:prstGeom prst="roundRect">
            <a:avLst>
              <a:gd name="adj" fmla="val 3202"/>
            </a:avLst>
          </a:prstGeom>
          <a:solidFill>
            <a:srgbClr val="FBFF00">
              <a:alpha val="12157"/>
            </a:srgb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2DF7BA-9741-873A-AA49-2961D486C3AA}"/>
              </a:ext>
            </a:extLst>
          </p:cNvPr>
          <p:cNvSpPr txBox="1"/>
          <p:nvPr/>
        </p:nvSpPr>
        <p:spPr>
          <a:xfrm>
            <a:off x="561591" y="1663918"/>
            <a:ext cx="1306054" cy="18466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>
                <a:latin typeface="NewComputerModern08" pitchFamily="2" charset="77"/>
                <a:cs typeface="Times New Roman" panose="02020603050405020304" pitchFamily="18" charset="0"/>
              </a:rPr>
              <a:t>Voting</a:t>
            </a:r>
            <a:endParaRPr lang="en-US" sz="1050" b="1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5AB0B7E-EADD-82C0-D6B6-5F67C89CB98D}"/>
              </a:ext>
            </a:extLst>
          </p:cNvPr>
          <p:cNvSpPr txBox="1"/>
          <p:nvPr/>
        </p:nvSpPr>
        <p:spPr>
          <a:xfrm>
            <a:off x="94481" y="2427930"/>
            <a:ext cx="587193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Voter marks and casts ballot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4181697-6B3A-91AB-41F8-D1333EA53B6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88322" y="1321371"/>
            <a:ext cx="0" cy="542213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B1D28E3B-7C91-6974-3C68-4324D2E400B1}"/>
              </a:ext>
            </a:extLst>
          </p:cNvPr>
          <p:cNvSpPr/>
          <p:nvPr/>
        </p:nvSpPr>
        <p:spPr>
          <a:xfrm>
            <a:off x="102810" y="3046311"/>
            <a:ext cx="1082896" cy="145267"/>
          </a:xfrm>
          <a:prstGeom prst="roundRect">
            <a:avLst>
              <a:gd name="adj" fmla="val 0"/>
            </a:avLst>
          </a:prstGeom>
          <a:solidFill>
            <a:srgbClr val="91AEFF">
              <a:alpha val="32941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Output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2C5AC02-C310-9291-1FE8-EFAE83C9890E}"/>
              </a:ext>
            </a:extLst>
          </p:cNvPr>
          <p:cNvSpPr/>
          <p:nvPr/>
        </p:nvSpPr>
        <p:spPr>
          <a:xfrm>
            <a:off x="102809" y="3191578"/>
            <a:ext cx="1082896" cy="299867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Voter receives receipt with ID and confirmation codes</a:t>
            </a: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D1E6D6EF-F9E0-478C-ABF8-EB4B59E2A652}"/>
              </a:ext>
            </a:extLst>
          </p:cNvPr>
          <p:cNvSpPr/>
          <p:nvPr/>
        </p:nvSpPr>
        <p:spPr>
          <a:xfrm>
            <a:off x="159793" y="1863584"/>
            <a:ext cx="457058" cy="427206"/>
          </a:xfrm>
          <a:prstGeom prst="diamond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bg1"/>
              </a:solidFill>
              <a:latin typeface="NewComputerModern08" pitchFamily="2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9E2E2D5-7AA8-BDFD-01EC-6EA2EFD844C8}"/>
              </a:ext>
            </a:extLst>
          </p:cNvPr>
          <p:cNvSpPr txBox="1"/>
          <p:nvPr/>
        </p:nvSpPr>
        <p:spPr>
          <a:xfrm>
            <a:off x="133607" y="1938228"/>
            <a:ext cx="512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dirty="0">
                <a:latin typeface="NewComputerModern08" pitchFamily="2" charset="77"/>
              </a:rPr>
              <a:t>Selected for voting?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4B3FAA9-D887-6960-75B2-DD8F5A28648F}"/>
              </a:ext>
            </a:extLst>
          </p:cNvPr>
          <p:cNvCxnSpPr>
            <a:cxnSpLocks/>
            <a:stCxn id="70" idx="2"/>
            <a:endCxn id="62" idx="0"/>
          </p:cNvCxnSpPr>
          <p:nvPr/>
        </p:nvCxnSpPr>
        <p:spPr>
          <a:xfrm flipH="1">
            <a:off x="388078" y="2290790"/>
            <a:ext cx="244" cy="13714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DBAE4BD-3139-5248-4F31-A6D7375F81C5}"/>
              </a:ext>
            </a:extLst>
          </p:cNvPr>
          <p:cNvSpPr txBox="1"/>
          <p:nvPr/>
        </p:nvSpPr>
        <p:spPr>
          <a:xfrm>
            <a:off x="343147" y="2233817"/>
            <a:ext cx="24558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NewComputerModern08" pitchFamily="2" charset="77"/>
              </a:rPr>
              <a:t>Y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D54684C-1560-C091-D7CF-21EE28628A2B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388078" y="2797262"/>
            <a:ext cx="0" cy="242227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EC2FA08B-177A-67BF-66B5-A763C1771CA7}"/>
              </a:ext>
            </a:extLst>
          </p:cNvPr>
          <p:cNvSpPr txBox="1"/>
          <p:nvPr/>
        </p:nvSpPr>
        <p:spPr>
          <a:xfrm>
            <a:off x="566895" y="1923440"/>
            <a:ext cx="24558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NewComputerModern08" pitchFamily="2" charset="77"/>
              </a:rPr>
              <a:t>N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FA6C692A-7645-4FA4-FE46-FEF2935A9CB6}"/>
              </a:ext>
            </a:extLst>
          </p:cNvPr>
          <p:cNvSpPr/>
          <p:nvPr/>
        </p:nvSpPr>
        <p:spPr>
          <a:xfrm>
            <a:off x="918032" y="1922394"/>
            <a:ext cx="1405706" cy="895740"/>
          </a:xfrm>
          <a:prstGeom prst="roundRect">
            <a:avLst>
              <a:gd name="adj" fmla="val 3202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2436273-CBA2-18AB-95D7-556D49D6D38B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681674" y="2612596"/>
            <a:ext cx="380614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DCC3440-A639-629D-7CCA-55253BD70D24}"/>
              </a:ext>
            </a:extLst>
          </p:cNvPr>
          <p:cNvSpPr txBox="1"/>
          <p:nvPr/>
        </p:nvSpPr>
        <p:spPr>
          <a:xfrm>
            <a:off x="1062288" y="2474096"/>
            <a:ext cx="1140828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Ballots  scanned recording ID and mark positions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B27C246-0D5D-ABA5-420A-F737277D3B31}"/>
              </a:ext>
            </a:extLst>
          </p:cNvPr>
          <p:cNvSpPr txBox="1"/>
          <p:nvPr/>
        </p:nvSpPr>
        <p:spPr>
          <a:xfrm>
            <a:off x="1062288" y="1987084"/>
            <a:ext cx="1140828" cy="1846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Ballot selected for auditing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5026074-629B-E150-6D8E-1B06295C6C62}"/>
              </a:ext>
            </a:extLst>
          </p:cNvPr>
          <p:cNvCxnSpPr>
            <a:cxnSpLocks/>
          </p:cNvCxnSpPr>
          <p:nvPr/>
        </p:nvCxnSpPr>
        <p:spPr>
          <a:xfrm>
            <a:off x="606948" y="2078257"/>
            <a:ext cx="455340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4EAC70E-1FAB-8835-7E53-9441286F38FB}"/>
              </a:ext>
            </a:extLst>
          </p:cNvPr>
          <p:cNvSpPr txBox="1"/>
          <p:nvPr/>
        </p:nvSpPr>
        <p:spPr>
          <a:xfrm>
            <a:off x="1323162" y="2232904"/>
            <a:ext cx="61908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b="1" dirty="0">
                <a:latin typeface="NewComputerModern08" pitchFamily="2" charset="77"/>
              </a:rPr>
              <a:t>Ballot Data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E64829C2-3DC2-AAD5-0A8A-9E35667AB9C4}"/>
              </a:ext>
            </a:extLst>
          </p:cNvPr>
          <p:cNvSpPr/>
          <p:nvPr/>
        </p:nvSpPr>
        <p:spPr>
          <a:xfrm>
            <a:off x="2595697" y="1756252"/>
            <a:ext cx="2119832" cy="2646456"/>
          </a:xfrm>
          <a:prstGeom prst="roundRect">
            <a:avLst>
              <a:gd name="adj" fmla="val 3202"/>
            </a:avLst>
          </a:prstGeom>
          <a:solidFill>
            <a:srgbClr val="FBFF00">
              <a:alpha val="12157"/>
            </a:srgb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B096C98-FD8E-F0FB-3A10-3B8CE03529D6}"/>
              </a:ext>
            </a:extLst>
          </p:cNvPr>
          <p:cNvSpPr txBox="1"/>
          <p:nvPr/>
        </p:nvSpPr>
        <p:spPr>
          <a:xfrm>
            <a:off x="3002586" y="1663918"/>
            <a:ext cx="1306054" cy="18466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>
                <a:latin typeface="NewComputerModern08" pitchFamily="2" charset="77"/>
                <a:cs typeface="Times New Roman" panose="02020603050405020304" pitchFamily="18" charset="0"/>
              </a:rPr>
              <a:t>Off-chain proof</a:t>
            </a:r>
            <a:endParaRPr lang="en-US" sz="1050" b="1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E15B9F11-63FA-7268-01DA-36E0D3C8A551}"/>
              </a:ext>
            </a:extLst>
          </p:cNvPr>
          <p:cNvSpPr/>
          <p:nvPr/>
        </p:nvSpPr>
        <p:spPr>
          <a:xfrm>
            <a:off x="1244973" y="3042256"/>
            <a:ext cx="1082896" cy="145267"/>
          </a:xfrm>
          <a:prstGeom prst="roundRect">
            <a:avLst>
              <a:gd name="adj" fmla="val 0"/>
            </a:avLst>
          </a:prstGeom>
          <a:solidFill>
            <a:srgbClr val="91AEFF">
              <a:alpha val="32941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Output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3268C4C5-060F-6523-5654-D808955A3B25}"/>
              </a:ext>
            </a:extLst>
          </p:cNvPr>
          <p:cNvSpPr/>
          <p:nvPr/>
        </p:nvSpPr>
        <p:spPr>
          <a:xfrm>
            <a:off x="1244972" y="3187523"/>
            <a:ext cx="1082896" cy="299867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Conventional tabulator-derived tally and election night reporting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A20E735-C232-C4D1-B508-010DD7EB63C3}"/>
              </a:ext>
            </a:extLst>
          </p:cNvPr>
          <p:cNvCxnSpPr>
            <a:cxnSpLocks/>
          </p:cNvCxnSpPr>
          <p:nvPr/>
        </p:nvCxnSpPr>
        <p:spPr>
          <a:xfrm>
            <a:off x="2032394" y="2751095"/>
            <a:ext cx="0" cy="288394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18BC5E4-22AE-2212-5EEF-1051ECA8196A}"/>
              </a:ext>
            </a:extLst>
          </p:cNvPr>
          <p:cNvCxnSpPr>
            <a:cxnSpLocks/>
          </p:cNvCxnSpPr>
          <p:nvPr/>
        </p:nvCxnSpPr>
        <p:spPr>
          <a:xfrm flipV="1">
            <a:off x="2092459" y="1321371"/>
            <a:ext cx="0" cy="225106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9F01E15-8754-2C26-743B-E9DC10570CB4}"/>
              </a:ext>
            </a:extLst>
          </p:cNvPr>
          <p:cNvCxnSpPr>
            <a:cxnSpLocks/>
          </p:cNvCxnSpPr>
          <p:nvPr/>
        </p:nvCxnSpPr>
        <p:spPr>
          <a:xfrm flipH="1">
            <a:off x="2092459" y="1546477"/>
            <a:ext cx="2402857" cy="3566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7026D4D1-A1CB-4E12-23E2-F3E63DA1D604}"/>
              </a:ext>
            </a:extLst>
          </p:cNvPr>
          <p:cNvSpPr txBox="1"/>
          <p:nvPr/>
        </p:nvSpPr>
        <p:spPr>
          <a:xfrm>
            <a:off x="2700757" y="1922187"/>
            <a:ext cx="1657347" cy="1846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Populate </a:t>
            </a:r>
            <a:r>
              <a:rPr lang="en-US" sz="600" dirty="0" err="1">
                <a:latin typeface="NewComputerModern08" pitchFamily="2" charset="77"/>
                <a:cs typeface="Times New Roman" panose="02020603050405020304" pitchFamily="18" charset="0"/>
              </a:rPr>
              <a:t>Zeeperio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 table with ballot data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044AE081-D053-46EA-6AB4-95FC91619AF1}"/>
              </a:ext>
            </a:extLst>
          </p:cNvPr>
          <p:cNvCxnSpPr>
            <a:cxnSpLocks/>
            <a:endCxn id="154" idx="1"/>
          </p:cNvCxnSpPr>
          <p:nvPr/>
        </p:nvCxnSpPr>
        <p:spPr>
          <a:xfrm>
            <a:off x="2323738" y="2014520"/>
            <a:ext cx="377019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4117E5A9-B92B-EBAB-CA64-667D0CF2E18A}"/>
              </a:ext>
            </a:extLst>
          </p:cNvPr>
          <p:cNvSpPr txBox="1"/>
          <p:nvPr/>
        </p:nvSpPr>
        <p:spPr>
          <a:xfrm>
            <a:off x="2693773" y="2226310"/>
            <a:ext cx="1934307" cy="8412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b="1" dirty="0">
                <a:latin typeface="NewComputerModern08" pitchFamily="2" charset="77"/>
                <a:cs typeface="Times New Roman" panose="02020603050405020304" pitchFamily="18" charset="0"/>
              </a:rPr>
              <a:t>Main proof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: Prove ballot constraints hold and tally is correct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b="1" dirty="0">
                <a:latin typeface="NewComputerModern08" pitchFamily="2" charset="77"/>
                <a:cs typeface="Times New Roman" panose="02020603050405020304" pitchFamily="18" charset="0"/>
              </a:rPr>
              <a:t>Receipt shuffle proof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: Apply secret shuffle to </a:t>
            </a:r>
            <a:r>
              <a:rPr lang="en-US" sz="600" dirty="0" err="1">
                <a:latin typeface="NewComputerModern08" pitchFamily="2" charset="77"/>
                <a:cs typeface="Times New Roman" panose="02020603050405020304" pitchFamily="18" charset="0"/>
              </a:rPr>
              <a:t>Zeeperio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 table columns and prove output is a valid permutation of original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b="1" dirty="0">
                <a:latin typeface="NewComputerModern08" pitchFamily="2" charset="77"/>
                <a:cs typeface="Times New Roman" panose="02020603050405020304" pitchFamily="18" charset="0"/>
              </a:rPr>
              <a:t>Dispute proof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: Ballot id and disputed code are not included in tally (per dispute)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111AA688-4F2F-DA61-5575-896A74E57A05}"/>
              </a:ext>
            </a:extLst>
          </p:cNvPr>
          <p:cNvCxnSpPr>
            <a:cxnSpLocks/>
          </p:cNvCxnSpPr>
          <p:nvPr/>
        </p:nvCxnSpPr>
        <p:spPr>
          <a:xfrm>
            <a:off x="4495316" y="1546477"/>
            <a:ext cx="0" cy="679833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B6DA3D3-7736-D874-C3C5-4DD7E23C99B1}"/>
              </a:ext>
            </a:extLst>
          </p:cNvPr>
          <p:cNvCxnSpPr>
            <a:cxnSpLocks/>
          </p:cNvCxnSpPr>
          <p:nvPr/>
        </p:nvCxnSpPr>
        <p:spPr>
          <a:xfrm flipH="1">
            <a:off x="3655613" y="2110701"/>
            <a:ext cx="1" cy="126051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60647B25-8F17-4F05-F49E-B9A024AC41B1}"/>
              </a:ext>
            </a:extLst>
          </p:cNvPr>
          <p:cNvSpPr txBox="1"/>
          <p:nvPr/>
        </p:nvSpPr>
        <p:spPr>
          <a:xfrm>
            <a:off x="2692059" y="3250243"/>
            <a:ext cx="1934307" cy="1036181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Interpolate </a:t>
            </a:r>
            <a:r>
              <a:rPr lang="en-US" sz="600" dirty="0" err="1">
                <a:latin typeface="NewComputerModern08" pitchFamily="2" charset="77"/>
                <a:cs typeface="Times New Roman" panose="02020603050405020304" pitchFamily="18" charset="0"/>
              </a:rPr>
              <a:t>Zeeperio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 table columns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Commit witness polynomials (hiding KZG and off-domain masking)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Derive Fiat-Shamir challenges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Compute constraint checks and generate batched KZG openings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Serialize proof as single ABI-encoded bytes payload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1C7F6C89-D82C-70A1-6654-3BD5EFA6BEBE}"/>
              </a:ext>
            </a:extLst>
          </p:cNvPr>
          <p:cNvCxnSpPr>
            <a:cxnSpLocks/>
            <a:stCxn id="163" idx="2"/>
            <a:endCxn id="172" idx="0"/>
          </p:cNvCxnSpPr>
          <p:nvPr/>
        </p:nvCxnSpPr>
        <p:spPr>
          <a:xfrm flipH="1">
            <a:off x="3659213" y="3067566"/>
            <a:ext cx="1714" cy="182677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C9788D8A-CFB1-4531-D1FA-2CB888B19B22}"/>
              </a:ext>
            </a:extLst>
          </p:cNvPr>
          <p:cNvSpPr/>
          <p:nvPr/>
        </p:nvSpPr>
        <p:spPr>
          <a:xfrm>
            <a:off x="2595697" y="4730757"/>
            <a:ext cx="2119832" cy="1109892"/>
          </a:xfrm>
          <a:prstGeom prst="roundRect">
            <a:avLst>
              <a:gd name="adj" fmla="val 3202"/>
            </a:avLst>
          </a:prstGeom>
          <a:solidFill>
            <a:srgbClr val="FBFF00">
              <a:alpha val="12157"/>
            </a:srgb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B380891-5AAA-10D7-9716-0DACAC9945A5}"/>
              </a:ext>
            </a:extLst>
          </p:cNvPr>
          <p:cNvSpPr txBox="1"/>
          <p:nvPr/>
        </p:nvSpPr>
        <p:spPr>
          <a:xfrm>
            <a:off x="3002586" y="4638422"/>
            <a:ext cx="1306054" cy="18466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>
                <a:latin typeface="NewComputerModern08" pitchFamily="2" charset="77"/>
                <a:cs typeface="Times New Roman" panose="02020603050405020304" pitchFamily="18" charset="0"/>
              </a:rPr>
              <a:t>On-chain verification</a:t>
            </a:r>
            <a:endParaRPr lang="en-US" sz="1050" b="1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E5EB807-FBCC-CAE9-A6BF-0EB5477B3D9A}"/>
              </a:ext>
            </a:extLst>
          </p:cNvPr>
          <p:cNvSpPr txBox="1"/>
          <p:nvPr/>
        </p:nvSpPr>
        <p:spPr>
          <a:xfrm>
            <a:off x="2700757" y="4918184"/>
            <a:ext cx="1934307" cy="80021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Submit </a:t>
            </a:r>
            <a:r>
              <a:rPr lang="en-US" sz="600" dirty="0" err="1">
                <a:latin typeface="NewComputerModern08" pitchFamily="2" charset="77"/>
                <a:cs typeface="Times New Roman" panose="02020603050405020304" pitchFamily="18" charset="0"/>
              </a:rPr>
              <a:t>tx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 </a:t>
            </a:r>
            <a:r>
              <a:rPr lang="en-US" sz="600">
                <a:latin typeface="NewComputerModern08" pitchFamily="2" charset="77"/>
                <a:cs typeface="Times New Roman" panose="02020603050405020304" pitchFamily="18" charset="0"/>
              </a:rPr>
              <a:t>call 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d</a:t>
            </a:r>
            <a:r>
              <a:rPr lang="en-US" sz="600">
                <a:latin typeface="NewComputerModern08" pitchFamily="2" charset="77"/>
                <a:cs typeface="Times New Roman" panose="02020603050405020304" pitchFamily="18" charset="0"/>
              </a:rPr>
              <a:t>ata 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to </a:t>
            </a:r>
            <a:r>
              <a:rPr lang="en-US" sz="600" dirty="0" err="1">
                <a:latin typeface="NewComputerModern08" pitchFamily="2" charset="77"/>
                <a:cs typeface="Times New Roman" panose="02020603050405020304" pitchFamily="18" charset="0"/>
              </a:rPr>
              <a:t>Sepolia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/</a:t>
            </a:r>
            <a:r>
              <a:rPr lang="en-US" sz="600" dirty="0" err="1">
                <a:latin typeface="NewComputerModern08" pitchFamily="2" charset="77"/>
                <a:cs typeface="Times New Roman" panose="02020603050405020304" pitchFamily="18" charset="0"/>
              </a:rPr>
              <a:t>mainnet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 by calling </a:t>
            </a:r>
            <a:r>
              <a:rPr lang="en-US" sz="600" dirty="0" err="1">
                <a:latin typeface="NewComputerModern08" pitchFamily="2" charset="77"/>
                <a:cs typeface="Times New Roman" panose="02020603050405020304" pitchFamily="18" charset="0"/>
              </a:rPr>
              <a:t>verifyMain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(), </a:t>
            </a:r>
            <a:r>
              <a:rPr lang="en-US" sz="600" dirty="0" err="1">
                <a:latin typeface="NewComputerModern08" pitchFamily="2" charset="77"/>
                <a:cs typeface="Times New Roman" panose="02020603050405020304" pitchFamily="18" charset="0"/>
              </a:rPr>
              <a:t>verifyReceipt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(), </a:t>
            </a:r>
            <a:r>
              <a:rPr lang="en-US" sz="600" dirty="0" err="1">
                <a:latin typeface="NewComputerModern08" pitchFamily="2" charset="77"/>
                <a:cs typeface="Times New Roman" panose="02020603050405020304" pitchFamily="18" charset="0"/>
              </a:rPr>
              <a:t>verifyDispute</a:t>
            </a: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() functions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Decode byes payload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Re-derive Fiat-Shamir challenges</a:t>
            </a:r>
          </a:p>
          <a:p>
            <a:pPr marL="228600" indent="-228600">
              <a:spcAft>
                <a:spcPts val="400"/>
              </a:spcAft>
              <a:buFont typeface="+mj-lt"/>
              <a:buAutoNum type="arabicPeriod"/>
            </a:pPr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Verify KZG opening and challenges</a:t>
            </a: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EC8EF1CF-8D7B-898D-F5C5-B1AEA0A1062E}"/>
              </a:ext>
            </a:extLst>
          </p:cNvPr>
          <p:cNvCxnSpPr>
            <a:cxnSpLocks/>
          </p:cNvCxnSpPr>
          <p:nvPr/>
        </p:nvCxnSpPr>
        <p:spPr>
          <a:xfrm>
            <a:off x="4495316" y="4286424"/>
            <a:ext cx="0" cy="63176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29F3D847-1DA2-8F0E-B499-A632801D7936}"/>
              </a:ext>
            </a:extLst>
          </p:cNvPr>
          <p:cNvSpPr/>
          <p:nvPr/>
        </p:nvSpPr>
        <p:spPr>
          <a:xfrm>
            <a:off x="3122952" y="6159568"/>
            <a:ext cx="1082896" cy="145267"/>
          </a:xfrm>
          <a:prstGeom prst="roundRect">
            <a:avLst>
              <a:gd name="adj" fmla="val 0"/>
            </a:avLst>
          </a:prstGeom>
          <a:solidFill>
            <a:srgbClr val="91AEFF">
              <a:alpha val="32941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Output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BC3A6B96-C428-6673-A1F4-7597E15CCBA8}"/>
              </a:ext>
            </a:extLst>
          </p:cNvPr>
          <p:cNvSpPr/>
          <p:nvPr/>
        </p:nvSpPr>
        <p:spPr>
          <a:xfrm>
            <a:off x="3122951" y="6304836"/>
            <a:ext cx="1082896" cy="221484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Proof valid/invalid</a:t>
            </a: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99BD3D66-3194-F0EA-B324-ADD6E804E210}"/>
              </a:ext>
            </a:extLst>
          </p:cNvPr>
          <p:cNvCxnSpPr>
            <a:cxnSpLocks/>
            <a:stCxn id="186" idx="2"/>
            <a:endCxn id="189" idx="0"/>
          </p:cNvCxnSpPr>
          <p:nvPr/>
        </p:nvCxnSpPr>
        <p:spPr>
          <a:xfrm flipH="1">
            <a:off x="3664400" y="5718403"/>
            <a:ext cx="3511" cy="441165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07D63AD1-19DA-64E0-E743-ADBECEBE32E8}"/>
              </a:ext>
            </a:extLst>
          </p:cNvPr>
          <p:cNvSpPr/>
          <p:nvPr/>
        </p:nvSpPr>
        <p:spPr>
          <a:xfrm>
            <a:off x="102808" y="3807358"/>
            <a:ext cx="1071615" cy="1177918"/>
          </a:xfrm>
          <a:prstGeom prst="roundRect">
            <a:avLst>
              <a:gd name="adj" fmla="val 3202"/>
            </a:avLst>
          </a:prstGeom>
          <a:solidFill>
            <a:srgbClr val="FBFF00">
              <a:alpha val="12157"/>
            </a:srgb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  <a:latin typeface="NewComputerModern08" pitchFamily="2" charset="77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F4A5E55-6936-A41E-A8A7-02FF572C4E5D}"/>
              </a:ext>
            </a:extLst>
          </p:cNvPr>
          <p:cNvSpPr txBox="1"/>
          <p:nvPr/>
        </p:nvSpPr>
        <p:spPr>
          <a:xfrm>
            <a:off x="268379" y="3710398"/>
            <a:ext cx="734435" cy="18466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>
                <a:latin typeface="NewComputerModern08" pitchFamily="2" charset="77"/>
                <a:cs typeface="Times New Roman" panose="02020603050405020304" pitchFamily="18" charset="0"/>
              </a:rPr>
              <a:t>Receipt check</a:t>
            </a:r>
            <a:endParaRPr lang="en-US" sz="1050" b="1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342A3049-53D8-F811-D5FC-F6D47867DB9A}"/>
              </a:ext>
            </a:extLst>
          </p:cNvPr>
          <p:cNvSpPr/>
          <p:nvPr/>
        </p:nvSpPr>
        <p:spPr>
          <a:xfrm>
            <a:off x="102808" y="5729380"/>
            <a:ext cx="2210675" cy="468424"/>
          </a:xfrm>
          <a:prstGeom prst="roundRect">
            <a:avLst>
              <a:gd name="adj" fmla="val 3202"/>
            </a:avLst>
          </a:prstGeom>
          <a:solidFill>
            <a:srgbClr val="FBFF00">
              <a:alpha val="12157"/>
            </a:srgb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  <a:latin typeface="NewComputerModern08" pitchFamily="2" charset="77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2617BC4-6D35-925A-AE93-A4A64C5DF04C}"/>
              </a:ext>
            </a:extLst>
          </p:cNvPr>
          <p:cNvSpPr txBox="1"/>
          <p:nvPr/>
        </p:nvSpPr>
        <p:spPr>
          <a:xfrm>
            <a:off x="588727" y="5638511"/>
            <a:ext cx="1306054" cy="18466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>
                <a:latin typeface="NewComputerModern08" pitchFamily="2" charset="77"/>
                <a:cs typeface="Times New Roman" panose="02020603050405020304" pitchFamily="18" charset="0"/>
              </a:rPr>
              <a:t>Dispute Resolution</a:t>
            </a:r>
            <a:endParaRPr lang="en-US" sz="1050" b="1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  <p:sp>
        <p:nvSpPr>
          <p:cNvPr id="204" name="Rounded Rectangle 203">
            <a:extLst>
              <a:ext uri="{FF2B5EF4-FFF2-40B4-BE49-F238E27FC236}">
                <a16:creationId xmlns:a16="http://schemas.microsoft.com/office/drawing/2014/main" id="{686754D7-92BA-1B81-67AE-EC0B7ED8F19C}"/>
              </a:ext>
            </a:extLst>
          </p:cNvPr>
          <p:cNvSpPr/>
          <p:nvPr/>
        </p:nvSpPr>
        <p:spPr>
          <a:xfrm>
            <a:off x="660684" y="6432617"/>
            <a:ext cx="1082896" cy="145267"/>
          </a:xfrm>
          <a:prstGeom prst="roundRect">
            <a:avLst>
              <a:gd name="adj" fmla="val 0"/>
            </a:avLst>
          </a:prstGeom>
          <a:solidFill>
            <a:srgbClr val="91AEFF">
              <a:alpha val="32941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Output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05" name="Rounded Rectangle 204">
            <a:extLst>
              <a:ext uri="{FF2B5EF4-FFF2-40B4-BE49-F238E27FC236}">
                <a16:creationId xmlns:a16="http://schemas.microsoft.com/office/drawing/2014/main" id="{1DF75ED8-2FC1-6B42-5A3D-E8E49830821F}"/>
              </a:ext>
            </a:extLst>
          </p:cNvPr>
          <p:cNvSpPr/>
          <p:nvPr/>
        </p:nvSpPr>
        <p:spPr>
          <a:xfrm>
            <a:off x="660683" y="6577885"/>
            <a:ext cx="1082896" cy="221484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Dispute valid/invalid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A1975FC8-0D85-9805-5F1F-4DD99561EC17}"/>
              </a:ext>
            </a:extLst>
          </p:cNvPr>
          <p:cNvSpPr txBox="1"/>
          <p:nvPr/>
        </p:nvSpPr>
        <p:spPr>
          <a:xfrm>
            <a:off x="153573" y="3963105"/>
            <a:ext cx="975903" cy="95410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1. Voter provides ballot ID</a:t>
            </a:r>
          </a:p>
          <a:p>
            <a:endParaRPr lang="en-US" sz="400" dirty="0">
              <a:latin typeface="NewComputerModern08" pitchFamily="2" charset="77"/>
              <a:cs typeface="Times New Roman" panose="02020603050405020304" pitchFamily="18" charset="0"/>
            </a:endParaRPr>
          </a:p>
          <a:p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2. EA performs KZG opening of Ballot id in permuted tables</a:t>
            </a:r>
          </a:p>
          <a:p>
            <a:endParaRPr lang="en-US" sz="400" dirty="0">
              <a:latin typeface="NewComputerModern08" pitchFamily="2" charset="77"/>
              <a:cs typeface="Times New Roman" panose="02020603050405020304" pitchFamily="18" charset="0"/>
            </a:endParaRPr>
          </a:p>
          <a:p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3. Voter checks code has mark value = 1 in expected row</a:t>
            </a:r>
          </a:p>
        </p:txBody>
      </p:sp>
      <p:sp>
        <p:nvSpPr>
          <p:cNvPr id="209" name="Rounded Rectangle 208">
            <a:extLst>
              <a:ext uri="{FF2B5EF4-FFF2-40B4-BE49-F238E27FC236}">
                <a16:creationId xmlns:a16="http://schemas.microsoft.com/office/drawing/2014/main" id="{699526BC-2D4D-F13F-21F7-ECD177793C82}"/>
              </a:ext>
            </a:extLst>
          </p:cNvPr>
          <p:cNvSpPr/>
          <p:nvPr/>
        </p:nvSpPr>
        <p:spPr>
          <a:xfrm>
            <a:off x="163754" y="5123306"/>
            <a:ext cx="944016" cy="145267"/>
          </a:xfrm>
          <a:prstGeom prst="roundRect">
            <a:avLst>
              <a:gd name="adj" fmla="val 0"/>
            </a:avLst>
          </a:prstGeom>
          <a:solidFill>
            <a:srgbClr val="91AEFF">
              <a:alpha val="32941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Output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00062826-5F82-717C-58EA-B88B628B61AB}"/>
              </a:ext>
            </a:extLst>
          </p:cNvPr>
          <p:cNvSpPr/>
          <p:nvPr/>
        </p:nvSpPr>
        <p:spPr>
          <a:xfrm>
            <a:off x="163753" y="5268574"/>
            <a:ext cx="944016" cy="221484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Receipt valid/invalid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CD1CE1EA-8713-61C7-7C4C-F9F77FCDCB3D}"/>
              </a:ext>
            </a:extLst>
          </p:cNvPr>
          <p:cNvCxnSpPr>
            <a:cxnSpLocks/>
            <a:stCxn id="208" idx="2"/>
            <a:endCxn id="209" idx="0"/>
          </p:cNvCxnSpPr>
          <p:nvPr/>
        </p:nvCxnSpPr>
        <p:spPr>
          <a:xfrm flipH="1">
            <a:off x="635762" y="4917212"/>
            <a:ext cx="5763" cy="206094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F09514FA-1E55-C0DC-7B4F-351CF58CF9E0}"/>
              </a:ext>
            </a:extLst>
          </p:cNvPr>
          <p:cNvSpPr/>
          <p:nvPr/>
        </p:nvSpPr>
        <p:spPr>
          <a:xfrm>
            <a:off x="1241868" y="4433666"/>
            <a:ext cx="1071615" cy="545390"/>
          </a:xfrm>
          <a:prstGeom prst="roundRect">
            <a:avLst>
              <a:gd name="adj" fmla="val 3202"/>
            </a:avLst>
          </a:prstGeom>
          <a:solidFill>
            <a:srgbClr val="FBFF00">
              <a:alpha val="12157"/>
            </a:srgbClr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  <a:latin typeface="NewComputerModern08" pitchFamily="2" charset="7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83F225CB-93B3-AA7C-911B-1D664E1A8E11}"/>
              </a:ext>
            </a:extLst>
          </p:cNvPr>
          <p:cNvSpPr txBox="1"/>
          <p:nvPr/>
        </p:nvSpPr>
        <p:spPr>
          <a:xfrm>
            <a:off x="1401133" y="4332954"/>
            <a:ext cx="734435" cy="18466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>
                <a:latin typeface="NewComputerModern08" pitchFamily="2" charset="77"/>
                <a:cs typeface="Times New Roman" panose="02020603050405020304" pitchFamily="18" charset="0"/>
              </a:rPr>
              <a:t>Print Audit</a:t>
            </a:r>
            <a:endParaRPr lang="en-US" sz="1050" b="1" dirty="0">
              <a:latin typeface="NewComputerModern08" pitchFamily="2" charset="77"/>
              <a:cs typeface="Times New Roman" panose="02020603050405020304" pitchFamily="18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AB5F4E56-BAF5-B25E-958C-CEFC2568B160}"/>
              </a:ext>
            </a:extLst>
          </p:cNvPr>
          <p:cNvSpPr txBox="1"/>
          <p:nvPr/>
        </p:nvSpPr>
        <p:spPr>
          <a:xfrm>
            <a:off x="1292633" y="4610541"/>
            <a:ext cx="975903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Check KZG openings match paper ballots</a:t>
            </a:r>
          </a:p>
        </p:txBody>
      </p:sp>
      <p:sp>
        <p:nvSpPr>
          <p:cNvPr id="219" name="Rounded Rectangle 218">
            <a:extLst>
              <a:ext uri="{FF2B5EF4-FFF2-40B4-BE49-F238E27FC236}">
                <a16:creationId xmlns:a16="http://schemas.microsoft.com/office/drawing/2014/main" id="{5F678E85-E6B9-FB97-9BF3-E00AB501883D}"/>
              </a:ext>
            </a:extLst>
          </p:cNvPr>
          <p:cNvSpPr/>
          <p:nvPr/>
        </p:nvSpPr>
        <p:spPr>
          <a:xfrm>
            <a:off x="1308010" y="5118617"/>
            <a:ext cx="944016" cy="145267"/>
          </a:xfrm>
          <a:prstGeom prst="roundRect">
            <a:avLst>
              <a:gd name="adj" fmla="val 0"/>
            </a:avLst>
          </a:prstGeom>
          <a:solidFill>
            <a:srgbClr val="91AEFF">
              <a:alpha val="32941"/>
            </a:srgbClr>
          </a:solidFill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Output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42163F6E-6C14-1A32-4F50-E1EDBB6FC428}"/>
              </a:ext>
            </a:extLst>
          </p:cNvPr>
          <p:cNvSpPr/>
          <p:nvPr/>
        </p:nvSpPr>
        <p:spPr>
          <a:xfrm>
            <a:off x="1308009" y="5263885"/>
            <a:ext cx="944016" cy="221484"/>
          </a:xfrm>
          <a:prstGeom prst="roundRect">
            <a:avLst>
              <a:gd name="adj" fmla="val 0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NewComputerModern08" pitchFamily="2" charset="77"/>
                <a:cs typeface="Times New Roman" panose="02020603050405020304" pitchFamily="18" charset="0"/>
              </a:rPr>
              <a:t>Receipt valid/invalid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C884140C-0DDB-6435-20A2-2094C3E658C7}"/>
              </a:ext>
            </a:extLst>
          </p:cNvPr>
          <p:cNvCxnSpPr>
            <a:cxnSpLocks/>
            <a:stCxn id="218" idx="2"/>
            <a:endCxn id="219" idx="0"/>
          </p:cNvCxnSpPr>
          <p:nvPr/>
        </p:nvCxnSpPr>
        <p:spPr>
          <a:xfrm flipH="1">
            <a:off x="1780018" y="4887540"/>
            <a:ext cx="567" cy="231077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41A4298A-BE1E-5BE9-0023-DAEAC1D5A7BF}"/>
              </a:ext>
            </a:extLst>
          </p:cNvPr>
          <p:cNvCxnSpPr>
            <a:cxnSpLocks/>
          </p:cNvCxnSpPr>
          <p:nvPr/>
        </p:nvCxnSpPr>
        <p:spPr>
          <a:xfrm>
            <a:off x="188633" y="3485308"/>
            <a:ext cx="0" cy="477797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0502971D-2D18-FA89-E0FA-45D23466333D}"/>
              </a:ext>
            </a:extLst>
          </p:cNvPr>
          <p:cNvCxnSpPr>
            <a:cxnSpLocks/>
          </p:cNvCxnSpPr>
          <p:nvPr/>
        </p:nvCxnSpPr>
        <p:spPr>
          <a:xfrm>
            <a:off x="1795246" y="4131865"/>
            <a:ext cx="0" cy="201088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6C0FBA80-38F8-8581-AB93-7589F6B11F27}"/>
              </a:ext>
            </a:extLst>
          </p:cNvPr>
          <p:cNvCxnSpPr>
            <a:cxnSpLocks/>
          </p:cNvCxnSpPr>
          <p:nvPr/>
        </p:nvCxnSpPr>
        <p:spPr>
          <a:xfrm flipH="1">
            <a:off x="1798301" y="4131865"/>
            <a:ext cx="897767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DB3323D8-1F7F-CB00-1328-1700E1E1C3A0}"/>
              </a:ext>
            </a:extLst>
          </p:cNvPr>
          <p:cNvCxnSpPr>
            <a:cxnSpLocks/>
          </p:cNvCxnSpPr>
          <p:nvPr/>
        </p:nvCxnSpPr>
        <p:spPr>
          <a:xfrm flipH="1">
            <a:off x="1129476" y="4059572"/>
            <a:ext cx="1558540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22656143-7008-8576-7DE8-B7E81DD0B91B}"/>
              </a:ext>
            </a:extLst>
          </p:cNvPr>
          <p:cNvSpPr txBox="1"/>
          <p:nvPr/>
        </p:nvSpPr>
        <p:spPr>
          <a:xfrm>
            <a:off x="211724" y="5905465"/>
            <a:ext cx="1991392" cy="1846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600" dirty="0">
                <a:latin typeface="NewComputerModern08" pitchFamily="2" charset="77"/>
                <a:cs typeface="Times New Roman" panose="02020603050405020304" pitchFamily="18" charset="0"/>
              </a:rPr>
              <a:t>Voter checks if dispute code is included in tally</a:t>
            </a:r>
          </a:p>
        </p:txBody>
      </p: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1831581E-80EE-3ABF-CFB3-A8BFBAABAFE2}"/>
              </a:ext>
            </a:extLst>
          </p:cNvPr>
          <p:cNvCxnSpPr>
            <a:cxnSpLocks/>
          </p:cNvCxnSpPr>
          <p:nvPr/>
        </p:nvCxnSpPr>
        <p:spPr>
          <a:xfrm>
            <a:off x="2953670" y="5720413"/>
            <a:ext cx="0" cy="277385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94B4B4D6-7842-32BF-680F-C2EE23AC8876}"/>
              </a:ext>
            </a:extLst>
          </p:cNvPr>
          <p:cNvCxnSpPr>
            <a:cxnSpLocks/>
            <a:stCxn id="231" idx="2"/>
            <a:endCxn id="204" idx="0"/>
          </p:cNvCxnSpPr>
          <p:nvPr/>
        </p:nvCxnSpPr>
        <p:spPr>
          <a:xfrm flipH="1">
            <a:off x="1202132" y="6090131"/>
            <a:ext cx="5288" cy="342486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597A8708-5B47-7840-B8CD-B60F4A043609}"/>
              </a:ext>
            </a:extLst>
          </p:cNvPr>
          <p:cNvCxnSpPr>
            <a:cxnSpLocks/>
            <a:endCxn id="231" idx="3"/>
          </p:cNvCxnSpPr>
          <p:nvPr/>
        </p:nvCxnSpPr>
        <p:spPr>
          <a:xfrm flipH="1">
            <a:off x="2203116" y="5997798"/>
            <a:ext cx="752761" cy="0"/>
          </a:xfrm>
          <a:prstGeom prst="straightConnector1">
            <a:avLst/>
          </a:prstGeom>
          <a:ln w="9525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721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4623</TotalTime>
  <Words>313</Words>
  <Application>Microsoft Macintosh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NewComputerModern08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Aleksander Essex</dc:creator>
  <cp:lastModifiedBy>Aleksander Essex</cp:lastModifiedBy>
  <cp:revision>7</cp:revision>
  <dcterms:created xsi:type="dcterms:W3CDTF">2026-01-30T13:46:11Z</dcterms:created>
  <dcterms:modified xsi:type="dcterms:W3CDTF">2026-03-11T11:59:37Z</dcterms:modified>
</cp:coreProperties>
</file>